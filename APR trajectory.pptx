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55eac55a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b55eac55a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[0:00-0:15] Title. The one-sentence version: coding agents leave long traces; I want to turn those traces into something readable at several levels of abstraction, automatically.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55eac55a_2_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b55eac55a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b55eac55a_2_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fb55eac55a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b55eac55a_2_1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b55eac55a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[1:30-2:05] Motivation. We usually report one bit per run: resolved or not. The trajectory is the only record of why -- and it looks like the panel on the right, with the mistake buried somewhere inside. Reading one run takes 15-30 minutes; the one study that annotated traces like this needed ~14K manual labels; and every harness logs in its own format. Understanding is the bottleneck.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b55eac55a_2_1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b55eac55a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b55eac55a_2_1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fb55eac55a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b55eac55a_2_2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b55eac55a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b55eac55a_2_2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fb55eac55a_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b55eac55a_2_2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fb55eac55a_2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b55eac55a_2_2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fb55eac55a_2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384048" y="1298448"/>
            <a:ext cx="8375904" cy="2103120"/>
          </a:xfrm>
          <a:prstGeom prst="rect">
            <a:avLst/>
          </a:prstGeom>
          <a:solidFill>
            <a:srgbClr val="F4F8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5"/>
          <p:cNvSpPr/>
          <p:nvPr/>
        </p:nvSpPr>
        <p:spPr>
          <a:xfrm>
            <a:off x="384048" y="1257300"/>
            <a:ext cx="8375904" cy="41148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384048" y="3401568"/>
            <a:ext cx="8375904" cy="2011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822960" y="1609344"/>
            <a:ext cx="74982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63626"/>
                </a:solidFill>
                <a:latin typeface="Arial"/>
                <a:ea typeface="Arial"/>
                <a:cs typeface="Arial"/>
                <a:sym typeface="Arial"/>
              </a:rPr>
              <a:t>Trajectory Analysis for APR Coding Agents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63626"/>
                </a:solidFill>
                <a:latin typeface="Arial"/>
                <a:ea typeface="Arial"/>
                <a:cs typeface="Arial"/>
                <a:sym typeface="Arial"/>
              </a:rPr>
              <a:t>at Multi-level Granularity</a:t>
            </a:r>
            <a:endParaRPr/>
          </a:p>
        </p:txBody>
      </p:sp>
      <p:sp>
        <p:nvSpPr>
          <p:cNvPr id="103" name="Google Shape;103;p25"/>
          <p:cNvSpPr txBox="1"/>
          <p:nvPr/>
        </p:nvSpPr>
        <p:spPr>
          <a:xfrm>
            <a:off x="822960" y="3703320"/>
            <a:ext cx="7498200" cy="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Mustahid Hasan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CSCI-</a:t>
            </a:r>
            <a:r>
              <a:rPr lang="en" sz="1100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680</a:t>
            </a:r>
            <a:r>
              <a:rPr b="0" i="0" lang="en" sz="11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rgbClr val="6E7B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Natural Language Processing</a:t>
            </a:r>
            <a:endParaRPr sz="1100">
              <a:solidFill>
                <a:srgbClr val="6E7B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William &amp; Mary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384048" y="1024128"/>
            <a:ext cx="8375904" cy="3474720"/>
          </a:xfrm>
          <a:prstGeom prst="rect">
            <a:avLst/>
          </a:prstGeom>
          <a:solidFill>
            <a:srgbClr val="F4F8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384048" y="982980"/>
            <a:ext cx="8375904" cy="41148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384048" y="4498848"/>
            <a:ext cx="8375904" cy="2011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475488" y="301752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63626"/>
                </a:solidFill>
              </a:rPr>
              <a:t>W</a:t>
            </a:r>
            <a:r>
              <a:rPr b="1" i="0" lang="en" sz="2000" u="none" cap="none" strike="noStrike">
                <a:solidFill>
                  <a:srgbClr val="063626"/>
                </a:solidFill>
                <a:latin typeface="Arial"/>
                <a:ea typeface="Arial"/>
                <a:cs typeface="Arial"/>
                <a:sym typeface="Arial"/>
              </a:rPr>
              <a:t>hat is an agent trajectory?</a:t>
            </a:r>
            <a:endParaRPr/>
          </a:p>
        </p:txBody>
      </p:sp>
      <p:sp>
        <p:nvSpPr>
          <p:cNvPr id="112" name="Google Shape;112;p26"/>
          <p:cNvSpPr txBox="1"/>
          <p:nvPr/>
        </p:nvSpPr>
        <p:spPr>
          <a:xfrm>
            <a:off x="498348" y="7132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An agent solves a task by looping. The record of that loop is what we analyze.</a:t>
            </a:r>
            <a:endParaRPr/>
          </a:p>
        </p:txBody>
      </p:sp>
      <p:sp>
        <p:nvSpPr>
          <p:cNvPr id="113" name="Google Shape;113;p26"/>
          <p:cNvSpPr txBox="1"/>
          <p:nvPr/>
        </p:nvSpPr>
        <p:spPr>
          <a:xfrm>
            <a:off x="8275320" y="471830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4" name="Google Shape;114;p26"/>
          <p:cNvSpPr/>
          <p:nvPr/>
        </p:nvSpPr>
        <p:spPr>
          <a:xfrm>
            <a:off x="658368" y="1207008"/>
            <a:ext cx="2395728" cy="22128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6"/>
          <p:cNvSpPr/>
          <p:nvPr/>
        </p:nvSpPr>
        <p:spPr>
          <a:xfrm>
            <a:off x="658368" y="1207008"/>
            <a:ext cx="2395728" cy="292608"/>
          </a:xfrm>
          <a:prstGeom prst="roundRect">
            <a:avLst>
              <a:gd fmla="val 13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agent</a:t>
            </a:r>
            <a:endParaRPr/>
          </a:p>
        </p:txBody>
      </p:sp>
      <p:sp>
        <p:nvSpPr>
          <p:cNvPr id="116" name="Google Shape;116;p26"/>
          <p:cNvSpPr/>
          <p:nvPr/>
        </p:nvSpPr>
        <p:spPr>
          <a:xfrm>
            <a:off x="3218688" y="1207008"/>
            <a:ext cx="2615184" cy="22128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6"/>
          <p:cNvSpPr/>
          <p:nvPr/>
        </p:nvSpPr>
        <p:spPr>
          <a:xfrm>
            <a:off x="3218688" y="1207008"/>
            <a:ext cx="2615184" cy="292608"/>
          </a:xfrm>
          <a:prstGeom prst="roundRect">
            <a:avLst>
              <a:gd fmla="val 13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iteration</a:t>
            </a:r>
            <a:endParaRPr/>
          </a:p>
        </p:txBody>
      </p:sp>
      <p:sp>
        <p:nvSpPr>
          <p:cNvPr id="118" name="Google Shape;118;p26"/>
          <p:cNvSpPr/>
          <p:nvPr/>
        </p:nvSpPr>
        <p:spPr>
          <a:xfrm>
            <a:off x="5998464" y="1207008"/>
            <a:ext cx="2487168" cy="221284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6"/>
          <p:cNvSpPr/>
          <p:nvPr/>
        </p:nvSpPr>
        <p:spPr>
          <a:xfrm>
            <a:off x="5998464" y="1207008"/>
            <a:ext cx="2487168" cy="292608"/>
          </a:xfrm>
          <a:prstGeom prst="roundRect">
            <a:avLst>
              <a:gd fmla="val 13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trajectory</a:t>
            </a:r>
            <a:endParaRPr/>
          </a:p>
        </p:txBody>
      </p:sp>
      <p:cxnSp>
        <p:nvCxnSpPr>
          <p:cNvPr id="120" name="Google Shape;120;p26"/>
          <p:cNvCxnSpPr/>
          <p:nvPr/>
        </p:nvCxnSpPr>
        <p:spPr>
          <a:xfrm>
            <a:off x="3054107" y="2286000"/>
            <a:ext cx="164700" cy="0"/>
          </a:xfrm>
          <a:prstGeom prst="straightConnector1">
            <a:avLst/>
          </a:prstGeom>
          <a:noFill/>
          <a:ln cap="flat" cmpd="sng" w="20300">
            <a:solidFill>
              <a:srgbClr val="2E7D32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1" name="Google Shape;121;p26"/>
          <p:cNvCxnSpPr/>
          <p:nvPr/>
        </p:nvCxnSpPr>
        <p:spPr>
          <a:xfrm>
            <a:off x="5833883" y="2286000"/>
            <a:ext cx="164700" cy="0"/>
          </a:xfrm>
          <a:prstGeom prst="straightConnector1">
            <a:avLst/>
          </a:prstGeom>
          <a:noFill/>
          <a:ln cap="flat" cmpd="sng" w="20300">
            <a:solidFill>
              <a:srgbClr val="2E7D32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2" name="Google Shape;122;p26"/>
          <p:cNvSpPr txBox="1"/>
          <p:nvPr/>
        </p:nvSpPr>
        <p:spPr>
          <a:xfrm>
            <a:off x="786384" y="1609344"/>
            <a:ext cx="21396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 LLM inside a harness that can call tools, call the model again, and act on what comes back</a:t>
            </a:r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22960" y="2139696"/>
            <a:ext cx="640080" cy="237744"/>
          </a:xfrm>
          <a:prstGeom prst="roundRect">
            <a:avLst>
              <a:gd fmla="val 28000" name="adj"/>
            </a:avLst>
          </a:prstGeom>
          <a:solidFill>
            <a:srgbClr val="E8F1E6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124" name="Google Shape;124;p26"/>
          <p:cNvSpPr/>
          <p:nvPr/>
        </p:nvSpPr>
        <p:spPr>
          <a:xfrm>
            <a:off x="1517904" y="2139696"/>
            <a:ext cx="640080" cy="237744"/>
          </a:xfrm>
          <a:prstGeom prst="roundRect">
            <a:avLst>
              <a:gd fmla="val 28000" name="adj"/>
            </a:avLst>
          </a:prstGeom>
          <a:solidFill>
            <a:srgbClr val="E8F1E6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/>
          </a:p>
        </p:txBody>
      </p:sp>
      <p:sp>
        <p:nvSpPr>
          <p:cNvPr id="125" name="Google Shape;125;p26"/>
          <p:cNvSpPr/>
          <p:nvPr/>
        </p:nvSpPr>
        <p:spPr>
          <a:xfrm>
            <a:off x="2212848" y="2139696"/>
            <a:ext cx="640080" cy="237744"/>
          </a:xfrm>
          <a:prstGeom prst="roundRect">
            <a:avLst>
              <a:gd fmla="val 28000" name="adj"/>
            </a:avLst>
          </a:prstGeom>
          <a:solidFill>
            <a:srgbClr val="E8F1E6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loop</a:t>
            </a:r>
            <a:endParaRPr/>
          </a:p>
        </p:txBody>
      </p:sp>
      <p:sp>
        <p:nvSpPr>
          <p:cNvPr id="126" name="Google Shape;126;p26"/>
          <p:cNvSpPr txBox="1"/>
          <p:nvPr/>
        </p:nvSpPr>
        <p:spPr>
          <a:xfrm>
            <a:off x="786384" y="2523744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what it leaves behind: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trace — a long, flat list of raw messages</a:t>
            </a:r>
            <a:endParaRPr/>
          </a:p>
        </p:txBody>
      </p:sp>
      <p:sp>
        <p:nvSpPr>
          <p:cNvPr id="127" name="Google Shape;127;p26"/>
          <p:cNvSpPr txBox="1"/>
          <p:nvPr/>
        </p:nvSpPr>
        <p:spPr>
          <a:xfrm>
            <a:off x="3346704" y="1591056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one atomic action, plus its outcome</a:t>
            </a:r>
            <a:endParaRPr/>
          </a:p>
        </p:txBody>
      </p:sp>
      <p:sp>
        <p:nvSpPr>
          <p:cNvPr id="128" name="Google Shape;128;p26"/>
          <p:cNvSpPr/>
          <p:nvPr/>
        </p:nvSpPr>
        <p:spPr>
          <a:xfrm>
            <a:off x="3346704" y="1810512"/>
            <a:ext cx="658368" cy="237744"/>
          </a:xfrm>
          <a:prstGeom prst="roundRect">
            <a:avLst>
              <a:gd fmla="val 28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Thought</a:t>
            </a:r>
            <a:endParaRPr/>
          </a:p>
        </p:txBody>
      </p:sp>
      <p:sp>
        <p:nvSpPr>
          <p:cNvPr id="129" name="Google Shape;129;p26"/>
          <p:cNvSpPr txBox="1"/>
          <p:nvPr/>
        </p:nvSpPr>
        <p:spPr>
          <a:xfrm>
            <a:off x="4059936" y="1847088"/>
            <a:ext cx="16824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"the test hits _cstack()"</a:t>
            </a:r>
            <a:endParaRPr/>
          </a:p>
        </p:txBody>
      </p:sp>
      <p:sp>
        <p:nvSpPr>
          <p:cNvPr id="130" name="Google Shape;130;p26"/>
          <p:cNvSpPr/>
          <p:nvPr/>
        </p:nvSpPr>
        <p:spPr>
          <a:xfrm>
            <a:off x="3346704" y="2121408"/>
            <a:ext cx="658368" cy="237744"/>
          </a:xfrm>
          <a:prstGeom prst="roundRect">
            <a:avLst>
              <a:gd fmla="val 28000" name="adj"/>
            </a:avLst>
          </a:prstGeom>
          <a:solidFill>
            <a:srgbClr val="4E7D4E"/>
          </a:solidFill>
          <a:ln>
            <a:noFill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/>
          </a:p>
        </p:txBody>
      </p:sp>
      <p:sp>
        <p:nvSpPr>
          <p:cNvPr id="131" name="Google Shape;131;p26"/>
          <p:cNvSpPr txBox="1"/>
          <p:nvPr/>
        </p:nvSpPr>
        <p:spPr>
          <a:xfrm>
            <a:off x="4059936" y="2157984"/>
            <a:ext cx="16824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open_file("separable.py")</a:t>
            </a:r>
            <a:endParaRPr/>
          </a:p>
        </p:txBody>
      </p:sp>
      <p:sp>
        <p:nvSpPr>
          <p:cNvPr id="132" name="Google Shape;132;p26"/>
          <p:cNvSpPr/>
          <p:nvPr/>
        </p:nvSpPr>
        <p:spPr>
          <a:xfrm>
            <a:off x="3346704" y="2432304"/>
            <a:ext cx="658368" cy="237744"/>
          </a:xfrm>
          <a:prstGeom prst="roundRect">
            <a:avLst>
              <a:gd fmla="val 28000" name="adj"/>
            </a:avLst>
          </a:prstGeom>
          <a:solidFill>
            <a:srgbClr val="B45309"/>
          </a:solidFill>
          <a:ln>
            <a:noFill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133" name="Google Shape;133;p26"/>
          <p:cNvSpPr txBox="1"/>
          <p:nvPr/>
        </p:nvSpPr>
        <p:spPr>
          <a:xfrm>
            <a:off x="4059936" y="2468880"/>
            <a:ext cx="16824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620 lines returned</a:t>
            </a:r>
            <a:endParaRPr/>
          </a:p>
        </p:txBody>
      </p:sp>
      <p:sp>
        <p:nvSpPr>
          <p:cNvPr id="134" name="Google Shape;134;p26"/>
          <p:cNvSpPr txBox="1"/>
          <p:nvPr/>
        </p:nvSpPr>
        <p:spPr>
          <a:xfrm>
            <a:off x="3346704" y="2816352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a TAR annotation: thought, action, result</a:t>
            </a:r>
            <a:endParaRPr/>
          </a:p>
        </p:txBody>
      </p:sp>
      <p:sp>
        <p:nvSpPr>
          <p:cNvPr id="135" name="Google Shape;135;p26"/>
          <p:cNvSpPr txBox="1"/>
          <p:nvPr/>
        </p:nvSpPr>
        <p:spPr>
          <a:xfrm>
            <a:off x="6126480" y="1591056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onsolas"/>
                <a:ea typeface="Consolas"/>
                <a:cs typeface="Consolas"/>
                <a:sym typeface="Consolas"/>
              </a:rPr>
              <a:t>T = [(t₁,a₁,r₁) … (tₙ,aₙ,rₙ)]</a:t>
            </a:r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6217920" y="1938528"/>
            <a:ext cx="310896" cy="310896"/>
          </a:xfrm>
          <a:prstGeom prst="ellipse">
            <a:avLst/>
          </a:prstGeom>
          <a:solidFill>
            <a:srgbClr val="E8F1E6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7059168" y="1938528"/>
            <a:ext cx="310896" cy="310896"/>
          </a:xfrm>
          <a:prstGeom prst="ellipse">
            <a:avLst/>
          </a:prstGeom>
          <a:solidFill>
            <a:srgbClr val="E8F1E6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7900416" y="1938528"/>
            <a:ext cx="310896" cy="310896"/>
          </a:xfrm>
          <a:prstGeom prst="ellipse">
            <a:avLst/>
          </a:prstGeom>
          <a:solidFill>
            <a:srgbClr val="E8F1E6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6638544" y="2468880"/>
            <a:ext cx="310896" cy="310896"/>
          </a:xfrm>
          <a:prstGeom prst="ellipse">
            <a:avLst/>
          </a:prstGeom>
          <a:solidFill>
            <a:srgbClr val="E8F1E6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7479792" y="2468880"/>
            <a:ext cx="310896" cy="310896"/>
          </a:xfrm>
          <a:prstGeom prst="ellipse">
            <a:avLst/>
          </a:prstGeom>
          <a:solidFill>
            <a:srgbClr val="E8F1E6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26"/>
          <p:cNvCxnSpPr/>
          <p:nvPr/>
        </p:nvCxnSpPr>
        <p:spPr>
          <a:xfrm>
            <a:off x="6528816" y="2093976"/>
            <a:ext cx="530352" cy="0"/>
          </a:xfrm>
          <a:prstGeom prst="straightConnector1">
            <a:avLst/>
          </a:prstGeom>
          <a:noFill/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2" name="Google Shape;142;p26"/>
          <p:cNvCxnSpPr/>
          <p:nvPr/>
        </p:nvCxnSpPr>
        <p:spPr>
          <a:xfrm>
            <a:off x="7370064" y="2093976"/>
            <a:ext cx="530352" cy="0"/>
          </a:xfrm>
          <a:prstGeom prst="straightConnector1">
            <a:avLst/>
          </a:prstGeom>
          <a:noFill/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3" name="Google Shape;143;p26"/>
          <p:cNvCxnSpPr/>
          <p:nvPr/>
        </p:nvCxnSpPr>
        <p:spPr>
          <a:xfrm>
            <a:off x="6373368" y="2249424"/>
            <a:ext cx="265176" cy="219456"/>
          </a:xfrm>
          <a:prstGeom prst="straightConnector1">
            <a:avLst/>
          </a:prstGeom>
          <a:noFill/>
          <a:ln cap="flat" cmpd="sng" w="15225">
            <a:solidFill>
              <a:srgbClr val="B45309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4" name="Google Shape;144;p26"/>
          <p:cNvCxnSpPr/>
          <p:nvPr/>
        </p:nvCxnSpPr>
        <p:spPr>
          <a:xfrm>
            <a:off x="7214616" y="2249424"/>
            <a:ext cx="265176" cy="219456"/>
          </a:xfrm>
          <a:prstGeom prst="straightConnector1">
            <a:avLst/>
          </a:prstGeom>
          <a:noFill/>
          <a:ln cap="flat" cmpd="sng" w="15225">
            <a:solidFill>
              <a:srgbClr val="B45309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5" name="Google Shape;145;p26"/>
          <p:cNvSpPr txBox="1"/>
          <p:nvPr/>
        </p:nvSpPr>
        <p:spPr>
          <a:xfrm>
            <a:off x="6126480" y="2852928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nodes = actions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edges = control transfer, consequence, …</a:t>
            </a:r>
            <a:endParaRPr/>
          </a:p>
        </p:txBody>
      </p:sp>
      <p:sp>
        <p:nvSpPr>
          <p:cNvPr id="146" name="Google Shape;146;p26"/>
          <p:cNvSpPr/>
          <p:nvPr/>
        </p:nvSpPr>
        <p:spPr>
          <a:xfrm>
            <a:off x="658368" y="3584448"/>
            <a:ext cx="7827264" cy="658368"/>
          </a:xfrm>
          <a:prstGeom prst="roundRect">
            <a:avLst>
              <a:gd fmla="val 12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128000" spcFirstLastPara="1" rIns="128000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 a trajectory is not just a log: it is a graph of what the agent did and how each action led to the next. That graph is the object we want to build, analyze and show.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/>
          <p:nvPr/>
        </p:nvSpPr>
        <p:spPr>
          <a:xfrm>
            <a:off x="384048" y="1024128"/>
            <a:ext cx="8375904" cy="3474720"/>
          </a:xfrm>
          <a:prstGeom prst="rect">
            <a:avLst/>
          </a:prstGeom>
          <a:solidFill>
            <a:srgbClr val="F4F8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384048" y="982980"/>
            <a:ext cx="8375904" cy="41148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384048" y="4498848"/>
            <a:ext cx="8375904" cy="2011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475488" y="301752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63626"/>
                </a:solidFill>
                <a:latin typeface="Arial"/>
                <a:ea typeface="Arial"/>
                <a:cs typeface="Arial"/>
                <a:sym typeface="Arial"/>
              </a:rPr>
              <a:t>Actions live at more than one </a:t>
            </a:r>
            <a:r>
              <a:rPr b="1" lang="en" sz="2000">
                <a:solidFill>
                  <a:srgbClr val="063626"/>
                </a:solidFill>
              </a:rPr>
              <a:t>granularity.</a:t>
            </a:r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498348" y="7132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The same run can be described as atomic commands, as kinds of operations, or as what the agent was trying to do.</a:t>
            </a: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8275320" y="471830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7" name="Google Shape;157;p27"/>
          <p:cNvSpPr/>
          <p:nvPr/>
        </p:nvSpPr>
        <p:spPr>
          <a:xfrm>
            <a:off x="786384" y="1225296"/>
            <a:ext cx="7699248" cy="768096"/>
          </a:xfrm>
          <a:prstGeom prst="roundRect">
            <a:avLst>
              <a:gd fmla="val 7000" name="adj"/>
            </a:avLst>
          </a:prstGeom>
          <a:solidFill>
            <a:srgbClr val="14452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950976" y="1344168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High-level</a:t>
            </a:r>
            <a:endParaRPr/>
          </a:p>
        </p:txBody>
      </p:sp>
      <p:sp>
        <p:nvSpPr>
          <p:cNvPr id="159" name="Google Shape;159;p27"/>
          <p:cNvSpPr txBox="1"/>
          <p:nvPr/>
        </p:nvSpPr>
        <p:spPr>
          <a:xfrm>
            <a:off x="950976" y="1600200"/>
            <a:ext cx="1700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run of iterations that accomplishes one </a:t>
            </a: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2779776" y="1472184"/>
            <a:ext cx="1411833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reproduce the bug</a:t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4337913" y="1472184"/>
            <a:ext cx="1477670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localize the fault</a:t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5961888" y="1472184"/>
            <a:ext cx="1411833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implement the fix</a:t>
            </a:r>
            <a:endParaRPr/>
          </a:p>
        </p:txBody>
      </p:sp>
      <p:sp>
        <p:nvSpPr>
          <p:cNvPr id="163" name="Google Shape;163;p27"/>
          <p:cNvSpPr/>
          <p:nvPr/>
        </p:nvSpPr>
        <p:spPr>
          <a:xfrm>
            <a:off x="7520025" y="1472184"/>
            <a:ext cx="819302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refactor</a:t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786384" y="2066544"/>
            <a:ext cx="7699248" cy="768096"/>
          </a:xfrm>
          <a:prstGeom prst="roundRect">
            <a:avLst>
              <a:gd fmla="val 7000" name="adj"/>
            </a:avLst>
          </a:prstGeom>
          <a:solidFill>
            <a:srgbClr val="2E7D32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950976" y="2185416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Mid-level</a:t>
            </a:r>
            <a:endParaRPr/>
          </a:p>
        </p:txBody>
      </p:sp>
      <p:sp>
        <p:nvSpPr>
          <p:cNvPr id="166" name="Google Shape;166;p27"/>
          <p:cNvSpPr txBox="1"/>
          <p:nvPr/>
        </p:nvSpPr>
        <p:spPr>
          <a:xfrm>
            <a:off x="950976" y="2441448"/>
            <a:ext cx="1700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kind of operation an iteration performs</a:t>
            </a:r>
            <a:endParaRPr/>
          </a:p>
        </p:txBody>
      </p:sp>
      <p:sp>
        <p:nvSpPr>
          <p:cNvPr id="167" name="Google Shape;167;p27"/>
          <p:cNvSpPr/>
          <p:nvPr/>
        </p:nvSpPr>
        <p:spPr>
          <a:xfrm>
            <a:off x="2779776" y="2313432"/>
            <a:ext cx="819302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run tool</a:t>
            </a:r>
            <a:endParaRPr/>
          </a:p>
        </p:txBody>
      </p:sp>
      <p:sp>
        <p:nvSpPr>
          <p:cNvPr id="168" name="Google Shape;168;p27"/>
          <p:cNvSpPr/>
          <p:nvPr/>
        </p:nvSpPr>
        <p:spPr>
          <a:xfrm>
            <a:off x="3745382" y="2313432"/>
            <a:ext cx="950976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web search</a:t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4842662" y="2313432"/>
            <a:ext cx="885139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file edit</a:t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5874105" y="2313432"/>
            <a:ext cx="1148486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define a plan</a:t>
            </a:r>
            <a:endParaRPr/>
          </a:p>
        </p:txBody>
      </p:sp>
      <p:sp>
        <p:nvSpPr>
          <p:cNvPr id="171" name="Google Shape;171;p27"/>
          <p:cNvSpPr/>
          <p:nvPr/>
        </p:nvSpPr>
        <p:spPr>
          <a:xfrm>
            <a:off x="786384" y="2907792"/>
            <a:ext cx="7699248" cy="768096"/>
          </a:xfrm>
          <a:prstGeom prst="roundRect">
            <a:avLst>
              <a:gd fmla="val 7000" name="adj"/>
            </a:avLst>
          </a:prstGeom>
          <a:solidFill>
            <a:srgbClr val="E8F1E6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950976" y="3026664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cap="none" strike="noStrike">
                <a:solidFill>
                  <a:srgbClr val="14452F"/>
                </a:solidFill>
                <a:latin typeface="Arial"/>
                <a:ea typeface="Arial"/>
                <a:cs typeface="Arial"/>
                <a:sym typeface="Arial"/>
              </a:rPr>
              <a:t>Low-level</a:t>
            </a: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950976" y="3282696"/>
            <a:ext cx="1700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one concrete, atomic action in one iteration</a:t>
            </a:r>
            <a:endParaRPr/>
          </a:p>
        </p:txBody>
      </p:sp>
      <p:sp>
        <p:nvSpPr>
          <p:cNvPr id="174" name="Google Shape;174;p27"/>
          <p:cNvSpPr/>
          <p:nvPr/>
        </p:nvSpPr>
        <p:spPr>
          <a:xfrm>
            <a:off x="2779776" y="3154680"/>
            <a:ext cx="1675180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pytest -q test_sep.py</a:t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>
            <a:off x="4601260" y="3154680"/>
            <a:ext cx="1082649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grep _cstack</a:t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5830214" y="3154680"/>
            <a:ext cx="1411833" cy="274320"/>
          </a:xfrm>
          <a:prstGeom prst="roundRect">
            <a:avLst>
              <a:gd fmla="val 28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edit separable.py</a:t>
            </a:r>
            <a:endParaRPr/>
          </a:p>
        </p:txBody>
      </p:sp>
      <p:cxnSp>
        <p:nvCxnSpPr>
          <p:cNvPr id="177" name="Google Shape;177;p27"/>
          <p:cNvCxnSpPr/>
          <p:nvPr/>
        </p:nvCxnSpPr>
        <p:spPr>
          <a:xfrm rot="10800000">
            <a:off x="640080" y="1298448"/>
            <a:ext cx="0" cy="2267712"/>
          </a:xfrm>
          <a:prstGeom prst="straightConnector1">
            <a:avLst/>
          </a:prstGeom>
          <a:noFill/>
          <a:ln cap="flat" cmpd="sng" w="20300">
            <a:solidFill>
              <a:srgbClr val="2E7D32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8" name="Google Shape;178;p27"/>
          <p:cNvSpPr txBox="1"/>
          <p:nvPr/>
        </p:nvSpPr>
        <p:spPr>
          <a:xfrm rot="-5400000">
            <a:off x="-207426" y="2365410"/>
            <a:ext cx="1371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Grouped Upward</a:t>
            </a: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786384" y="3803904"/>
            <a:ext cx="7699248" cy="512064"/>
          </a:xfrm>
          <a:prstGeom prst="roundRect">
            <a:avLst>
              <a:gd fmla="val 12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128000" spcFirstLastPara="1" rIns="128000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level nests into the one above — and each can be identified by rules, clustering or classification.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/>
          <p:nvPr/>
        </p:nvSpPr>
        <p:spPr>
          <a:xfrm>
            <a:off x="384048" y="1024128"/>
            <a:ext cx="8376000" cy="3474600"/>
          </a:xfrm>
          <a:prstGeom prst="rect">
            <a:avLst/>
          </a:prstGeom>
          <a:solidFill>
            <a:srgbClr val="F4F8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384048" y="982980"/>
            <a:ext cx="8375904" cy="41148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384048" y="4498848"/>
            <a:ext cx="8375904" cy="2011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475488" y="301752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63626"/>
                </a:solidFill>
              </a:rPr>
              <a:t>Why do we need to analyze trajectory?</a:t>
            </a:r>
            <a:endParaRPr/>
          </a:p>
        </p:txBody>
      </p:sp>
      <p:sp>
        <p:nvSpPr>
          <p:cNvPr id="188" name="Google Shape;188;p28"/>
          <p:cNvSpPr txBox="1"/>
          <p:nvPr/>
        </p:nvSpPr>
        <p:spPr>
          <a:xfrm>
            <a:off x="498348" y="7132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An agent runs for dozens of steps on its own. Two very different records come out of it.</a:t>
            </a:r>
            <a:endParaRPr/>
          </a:p>
        </p:txBody>
      </p:sp>
      <p:sp>
        <p:nvSpPr>
          <p:cNvPr id="189" name="Google Shape;189;p28"/>
          <p:cNvSpPr txBox="1"/>
          <p:nvPr/>
        </p:nvSpPr>
        <p:spPr>
          <a:xfrm>
            <a:off x="8275320" y="471830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658368" y="1225296"/>
            <a:ext cx="2121408" cy="1773936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658368" y="1225296"/>
            <a:ext cx="2121408" cy="274320"/>
          </a:xfrm>
          <a:prstGeom prst="roundRect">
            <a:avLst>
              <a:gd fmla="val 14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we usually report</a:t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868680" y="1664208"/>
            <a:ext cx="1700784" cy="329184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 resolved</a:t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>
            <a:off x="868680" y="2066543"/>
            <a:ext cx="1700784" cy="329184"/>
          </a:xfrm>
          <a:prstGeom prst="roundRect">
            <a:avLst>
              <a:gd fmla="val 20000" name="adj"/>
            </a:avLst>
          </a:prstGeom>
          <a:solidFill>
            <a:srgbClr val="B45309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 unresolved</a:t>
            </a:r>
            <a:endParaRPr/>
          </a:p>
        </p:txBody>
      </p:sp>
      <p:sp>
        <p:nvSpPr>
          <p:cNvPr id="194" name="Google Shape;194;p28"/>
          <p:cNvSpPr txBox="1"/>
          <p:nvPr/>
        </p:nvSpPr>
        <p:spPr>
          <a:xfrm>
            <a:off x="749808" y="2523744"/>
            <a:ext cx="19385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one bit per run — and no account of why</a:t>
            </a:r>
            <a:endParaRPr/>
          </a:p>
        </p:txBody>
      </p:sp>
      <p:sp>
        <p:nvSpPr>
          <p:cNvPr id="195" name="Google Shape;195;p28"/>
          <p:cNvSpPr/>
          <p:nvPr/>
        </p:nvSpPr>
        <p:spPr>
          <a:xfrm>
            <a:off x="2999232" y="1225296"/>
            <a:ext cx="5486400" cy="1773936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2999232" y="1225296"/>
            <a:ext cx="5486400" cy="274320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18275" lIns="128000" spcFirstLastPara="1" rIns="12800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actually happened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3145536" y="1572768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onsolas"/>
                <a:ea typeface="Consolas"/>
                <a:cs typeface="Consolas"/>
                <a:sym typeface="Consolas"/>
              </a:rPr>
              <a:t>iter 12  thought:  the failing test touches _cstack(); open separable.py</a:t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3145536" y="1769364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iter 12  action :  open_file("astropy/modeling/separable.py", 120)</a:t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3145536" y="1965960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onsolas"/>
                <a:ea typeface="Consolas"/>
                <a:cs typeface="Consolas"/>
                <a:sym typeface="Consolas"/>
              </a:rPr>
              <a:t>iter 13  result :  &lt;620 lines returned&gt;</a:t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3145536" y="2162556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iter 14  action :  str_replace(...)   →   patch applied</a:t>
            </a:r>
            <a:endParaRPr/>
          </a:p>
        </p:txBody>
      </p:sp>
      <p:sp>
        <p:nvSpPr>
          <p:cNvPr id="201" name="Google Shape;201;p28"/>
          <p:cNvSpPr txBox="1"/>
          <p:nvPr/>
        </p:nvSpPr>
        <p:spPr>
          <a:xfrm>
            <a:off x="3145536" y="235915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onsolas"/>
                <a:ea typeface="Consolas"/>
                <a:cs typeface="Consolas"/>
                <a:sym typeface="Consolas"/>
              </a:rPr>
              <a:t>iter 15  result :  2 tests still failing</a:t>
            </a:r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3145536" y="2555747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onsolas"/>
                <a:ea typeface="Consolas"/>
                <a:cs typeface="Consolas"/>
                <a:sym typeface="Consolas"/>
              </a:rPr>
              <a:t>iter 16  thought:  let me open separable.py again ...</a:t>
            </a:r>
            <a:endParaRPr/>
          </a:p>
        </p:txBody>
      </p:sp>
      <p:sp>
        <p:nvSpPr>
          <p:cNvPr id="203" name="Google Shape;203;p28"/>
          <p:cNvSpPr txBox="1"/>
          <p:nvPr/>
        </p:nvSpPr>
        <p:spPr>
          <a:xfrm>
            <a:off x="3145536" y="2761488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… 38 iterations · 61k tokens.  </a:t>
            </a:r>
            <a:r>
              <a:rPr b="1" i="0" lang="en" sz="8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Which step was the mistake?</a:t>
            </a:r>
            <a:endParaRPr/>
          </a:p>
        </p:txBody>
      </p:sp>
      <p:sp>
        <p:nvSpPr>
          <p:cNvPr id="204" name="Google Shape;204;p28"/>
          <p:cNvSpPr/>
          <p:nvPr/>
        </p:nvSpPr>
        <p:spPr>
          <a:xfrm>
            <a:off x="1527878" y="3090610"/>
            <a:ext cx="2432400" cy="658500"/>
          </a:xfrm>
          <a:prstGeom prst="roundRect">
            <a:avLst>
              <a:gd fmla="val 12000" name="adj"/>
            </a:avLst>
          </a:prstGeom>
          <a:solidFill>
            <a:srgbClr val="E8F1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1655894" y="3163763"/>
            <a:ext cx="2194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cap="none" strike="noStrike">
                <a:solidFill>
                  <a:srgbClr val="14452F"/>
                </a:solidFill>
                <a:latin typeface="Arial"/>
                <a:ea typeface="Arial"/>
                <a:cs typeface="Arial"/>
                <a:sym typeface="Arial"/>
              </a:rPr>
              <a:t>~14,000</a:t>
            </a:r>
            <a:endParaRPr/>
          </a:p>
        </p:txBody>
      </p:sp>
      <p:sp>
        <p:nvSpPr>
          <p:cNvPr id="206" name="Google Shape;206;p28"/>
          <p:cNvSpPr txBox="1"/>
          <p:nvPr/>
        </p:nvSpPr>
        <p:spPr>
          <a:xfrm>
            <a:off x="1655894" y="3374075"/>
            <a:ext cx="21945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pairs </a:t>
            </a:r>
            <a:r>
              <a:rPr lang="en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manually labeled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in the one study that annotated traces like these</a:t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4336013" y="3090610"/>
            <a:ext cx="2432400" cy="658500"/>
          </a:xfrm>
          <a:prstGeom prst="roundRect">
            <a:avLst>
              <a:gd fmla="val 12000" name="adj"/>
            </a:avLst>
          </a:prstGeom>
          <a:solidFill>
            <a:srgbClr val="E8F1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4464028" y="3163763"/>
            <a:ext cx="2194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cap="none" strike="noStrike">
                <a:solidFill>
                  <a:srgbClr val="14452F"/>
                </a:solidFill>
                <a:latin typeface="Arial"/>
                <a:ea typeface="Arial"/>
                <a:cs typeface="Arial"/>
                <a:sym typeface="Arial"/>
              </a:rPr>
              <a:t>3 harnesses</a:t>
            </a:r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4464028" y="3374075"/>
            <a:ext cx="21945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Codex, Claude Code and Gemini log </a:t>
            </a:r>
            <a:r>
              <a:rPr lang="en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- 3 different log format</a:t>
            </a:r>
            <a:endParaRPr/>
          </a:p>
        </p:txBody>
      </p:sp>
      <p:sp>
        <p:nvSpPr>
          <p:cNvPr id="210" name="Google Shape;210;p28"/>
          <p:cNvSpPr/>
          <p:nvPr/>
        </p:nvSpPr>
        <p:spPr>
          <a:xfrm>
            <a:off x="658368" y="3877056"/>
            <a:ext cx="7827264" cy="457200"/>
          </a:xfrm>
          <a:prstGeom prst="roundRect">
            <a:avLst>
              <a:gd fmla="val 12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128000" spcFirstLastPara="1" rIns="128000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can run these agents far faster than we can understand them.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/>
          <p:nvPr/>
        </p:nvSpPr>
        <p:spPr>
          <a:xfrm>
            <a:off x="384048" y="1024128"/>
            <a:ext cx="8375904" cy="3474720"/>
          </a:xfrm>
          <a:prstGeom prst="rect">
            <a:avLst/>
          </a:prstGeom>
          <a:solidFill>
            <a:srgbClr val="F4F8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384048" y="982980"/>
            <a:ext cx="8375904" cy="41148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384048" y="4498848"/>
            <a:ext cx="8375904" cy="2011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475488" y="301752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63626"/>
                </a:solidFill>
              </a:rPr>
              <a:t>Related Studies</a:t>
            </a:r>
            <a:endParaRPr/>
          </a:p>
        </p:txBody>
      </p:sp>
      <p:sp>
        <p:nvSpPr>
          <p:cNvPr id="219" name="Google Shape;219;p29"/>
          <p:cNvSpPr txBox="1"/>
          <p:nvPr/>
        </p:nvSpPr>
        <p:spPr>
          <a:xfrm>
            <a:off x="498348" y="713232"/>
            <a:ext cx="8229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The pieces are out there: a schema, a labeling tool, viewers, stage vocabularies. </a:t>
            </a:r>
            <a:endParaRPr/>
          </a:p>
        </p:txBody>
      </p:sp>
      <p:sp>
        <p:nvSpPr>
          <p:cNvPr id="220" name="Google Shape;220;p29"/>
          <p:cNvSpPr txBox="1"/>
          <p:nvPr/>
        </p:nvSpPr>
        <p:spPr>
          <a:xfrm>
            <a:off x="8275320" y="471830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566928" y="1188720"/>
            <a:ext cx="2395728" cy="274320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3017520" y="1188720"/>
            <a:ext cx="3017520" cy="274320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contributes</a:t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6089904" y="1188720"/>
            <a:ext cx="2432304" cy="274320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missing</a:t>
            </a:r>
            <a:endParaRPr/>
          </a:p>
        </p:txBody>
      </p:sp>
      <p:sp>
        <p:nvSpPr>
          <p:cNvPr id="224" name="Google Shape;224;p29"/>
          <p:cNvSpPr/>
          <p:nvPr/>
        </p:nvSpPr>
        <p:spPr>
          <a:xfrm>
            <a:off x="566928" y="1499616"/>
            <a:ext cx="7955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566878" y="1640629"/>
            <a:ext cx="239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TAR Annotation</a:t>
            </a:r>
            <a:endParaRPr/>
          </a:p>
        </p:txBody>
      </p:sp>
      <p:sp>
        <p:nvSpPr>
          <p:cNvPr id="226" name="Google Shape;226;p29"/>
          <p:cNvSpPr txBox="1"/>
          <p:nvPr/>
        </p:nvSpPr>
        <p:spPr>
          <a:xfrm>
            <a:off x="3017520" y="1536192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TAR schema: thought / action / result per iteration, with action and relation labels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6089904" y="1536192"/>
            <a:ext cx="24323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one granularity only, and every label is manual</a:t>
            </a:r>
            <a:endParaRPr/>
          </a:p>
        </p:txBody>
      </p:sp>
      <p:sp>
        <p:nvSpPr>
          <p:cNvPr id="228" name="Google Shape;228;p29"/>
          <p:cNvSpPr/>
          <p:nvPr/>
        </p:nvSpPr>
        <p:spPr>
          <a:xfrm>
            <a:off x="566928" y="1956815"/>
            <a:ext cx="7955280" cy="457200"/>
          </a:xfrm>
          <a:prstGeom prst="rect">
            <a:avLst/>
          </a:prstGeom>
          <a:solidFill>
            <a:srgbClr val="F7F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566928" y="1993391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TraceView</a:t>
            </a:r>
            <a:endParaRPr/>
          </a:p>
        </p:txBody>
      </p:sp>
      <p:sp>
        <p:nvSpPr>
          <p:cNvPr id="230" name="Google Shape;230;p29"/>
          <p:cNvSpPr txBox="1"/>
          <p:nvPr/>
        </p:nvSpPr>
        <p:spPr>
          <a:xfrm>
            <a:off x="3017520" y="1993391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Turns that schema into an interactive labeling and graph tool</a:t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6089904" y="1993391"/>
            <a:ext cx="24323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no automation — every semantic judgment is the user's</a:t>
            </a:r>
            <a:endParaRPr/>
          </a:p>
        </p:txBody>
      </p:sp>
      <p:sp>
        <p:nvSpPr>
          <p:cNvPr id="232" name="Google Shape;232;p29"/>
          <p:cNvSpPr/>
          <p:nvPr/>
        </p:nvSpPr>
        <p:spPr>
          <a:xfrm>
            <a:off x="566928" y="2414015"/>
            <a:ext cx="7955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566928" y="2450591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SeaView · AgentLens</a:t>
            </a:r>
            <a:endParaRPr/>
          </a:p>
        </p:txBody>
      </p:sp>
      <p:sp>
        <p:nvSpPr>
          <p:cNvPr id="234" name="Google Shape;234;p29"/>
          <p:cNvSpPr txBox="1"/>
          <p:nvPr/>
        </p:nvSpPr>
        <p:spPr>
          <a:xfrm>
            <a:off x="3017520" y="2450591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Visual interfaces for inspecting agent runs</a:t>
            </a:r>
            <a:endParaRPr/>
          </a:p>
        </p:txBody>
      </p:sp>
      <p:sp>
        <p:nvSpPr>
          <p:cNvPr id="235" name="Google Shape;235;p29"/>
          <p:cNvSpPr txBox="1"/>
          <p:nvPr/>
        </p:nvSpPr>
        <p:spPr>
          <a:xfrm>
            <a:off x="6089904" y="2450591"/>
            <a:ext cx="24323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show the trace, do not annotate what it means</a:t>
            </a:r>
            <a:endParaRPr/>
          </a:p>
        </p:txBody>
      </p:sp>
      <p:sp>
        <p:nvSpPr>
          <p:cNvPr id="236" name="Google Shape;236;p29"/>
          <p:cNvSpPr/>
          <p:nvPr/>
        </p:nvSpPr>
        <p:spPr>
          <a:xfrm>
            <a:off x="566928" y="2871215"/>
            <a:ext cx="7955280" cy="457200"/>
          </a:xfrm>
          <a:prstGeom prst="rect">
            <a:avLst/>
          </a:prstGeom>
          <a:solidFill>
            <a:srgbClr val="F7F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566928" y="2907791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Kimi-Dev · Agentless · Graphectory</a:t>
            </a: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3017520" y="2907791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Fixed high-level stage vocabularies (localize, repair, validate …)</a:t>
            </a:r>
            <a:endParaRPr/>
          </a:p>
        </p:txBody>
      </p:sp>
      <p:sp>
        <p:nvSpPr>
          <p:cNvPr id="239" name="Google Shape;239;p29"/>
          <p:cNvSpPr txBox="1"/>
          <p:nvPr/>
        </p:nvSpPr>
        <p:spPr>
          <a:xfrm>
            <a:off x="6089904" y="2907791"/>
            <a:ext cx="24323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never validated against human judgment</a:t>
            </a:r>
            <a:endParaRPr/>
          </a:p>
        </p:txBody>
      </p:sp>
      <p:sp>
        <p:nvSpPr>
          <p:cNvPr id="240" name="Google Shape;240;p29"/>
          <p:cNvSpPr/>
          <p:nvPr/>
        </p:nvSpPr>
        <p:spPr>
          <a:xfrm>
            <a:off x="566928" y="3328415"/>
            <a:ext cx="7955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566928" y="3364991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MAST · Agent-as-a-Judge</a:t>
            </a:r>
            <a:endParaRPr/>
          </a:p>
        </p:txBody>
      </p:sp>
      <p:sp>
        <p:nvSpPr>
          <p:cNvPr id="242" name="Google Shape;242;p29"/>
          <p:cNvSpPr txBox="1"/>
          <p:nvPr/>
        </p:nvSpPr>
        <p:spPr>
          <a:xfrm>
            <a:off x="3017520" y="3364991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LLMs can scale a human-built taxonomy over traces</a:t>
            </a:r>
            <a:endParaRPr/>
          </a:p>
        </p:txBody>
      </p:sp>
      <p:sp>
        <p:nvSpPr>
          <p:cNvPr id="243" name="Google Shape;243;p29"/>
          <p:cNvSpPr txBox="1"/>
          <p:nvPr/>
        </p:nvSpPr>
        <p:spPr>
          <a:xfrm>
            <a:off x="6089904" y="3364991"/>
            <a:ext cx="24323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not for coding-agent trajectories, not multi-granular</a:t>
            </a:r>
            <a:endParaRPr/>
          </a:p>
        </p:txBody>
      </p:sp>
      <p:sp>
        <p:nvSpPr>
          <p:cNvPr id="244" name="Google Shape;244;p29"/>
          <p:cNvSpPr/>
          <p:nvPr/>
        </p:nvSpPr>
        <p:spPr>
          <a:xfrm>
            <a:off x="566928" y="3913632"/>
            <a:ext cx="7955280" cy="457200"/>
          </a:xfrm>
          <a:prstGeom prst="roundRect">
            <a:avLst>
              <a:gd fmla="val 12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128000" spcFirstLastPara="1" rIns="128000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Nobody has an automated, multi-granularity, human-validated </a:t>
            </a:r>
            <a:r>
              <a:rPr lang="en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of what a coding agent </a:t>
            </a:r>
            <a:r>
              <a:rPr lang="en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actually</a:t>
            </a: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did.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/>
          <p:nvPr/>
        </p:nvSpPr>
        <p:spPr>
          <a:xfrm>
            <a:off x="384048" y="1024128"/>
            <a:ext cx="8375904" cy="3474720"/>
          </a:xfrm>
          <a:prstGeom prst="rect">
            <a:avLst/>
          </a:prstGeom>
          <a:solidFill>
            <a:srgbClr val="F4F8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384048" y="982980"/>
            <a:ext cx="8375904" cy="41148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384048" y="4498848"/>
            <a:ext cx="8375904" cy="2011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475488" y="301752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63626"/>
                </a:solidFill>
              </a:rPr>
              <a:t>Approach</a:t>
            </a:r>
            <a:endParaRPr/>
          </a:p>
        </p:txBody>
      </p:sp>
      <p:sp>
        <p:nvSpPr>
          <p:cNvPr id="253" name="Google Shape;253;p30"/>
          <p:cNvSpPr txBox="1"/>
          <p:nvPr/>
        </p:nvSpPr>
        <p:spPr>
          <a:xfrm>
            <a:off x="498348" y="7132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From the atomic action up to the task-level purpose — annotated automatically, then checked against people.</a:t>
            </a:r>
            <a:endParaRPr/>
          </a:p>
        </p:txBody>
      </p:sp>
      <p:sp>
        <p:nvSpPr>
          <p:cNvPr id="254" name="Google Shape;254;p30"/>
          <p:cNvSpPr txBox="1"/>
          <p:nvPr/>
        </p:nvSpPr>
        <p:spPr>
          <a:xfrm>
            <a:off x="8275320" y="471830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55" name="Google Shape;255;p30"/>
          <p:cNvSpPr/>
          <p:nvPr/>
        </p:nvSpPr>
        <p:spPr>
          <a:xfrm>
            <a:off x="658368" y="1243584"/>
            <a:ext cx="1783080" cy="148132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658368" y="1243584"/>
            <a:ext cx="1783080" cy="274320"/>
          </a:xfrm>
          <a:prstGeom prst="roundRect">
            <a:avLst>
              <a:gd fmla="val 15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traces</a:t>
            </a:r>
            <a:endParaRPr/>
          </a:p>
        </p:txBody>
      </p:sp>
      <p:sp>
        <p:nvSpPr>
          <p:cNvPr id="257" name="Google Shape;257;p30"/>
          <p:cNvSpPr txBox="1"/>
          <p:nvPr/>
        </p:nvSpPr>
        <p:spPr>
          <a:xfrm>
            <a:off x="749808" y="1627632"/>
            <a:ext cx="16002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50 trajectories we collected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Codex · Claude Code · Gemini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program-repair tasks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one unified schema</a:t>
            </a:r>
            <a:endParaRPr/>
          </a:p>
        </p:txBody>
      </p:sp>
      <p:cxnSp>
        <p:nvCxnSpPr>
          <p:cNvPr id="258" name="Google Shape;258;p30"/>
          <p:cNvCxnSpPr/>
          <p:nvPr/>
        </p:nvCxnSpPr>
        <p:spPr>
          <a:xfrm>
            <a:off x="2459736" y="1984248"/>
            <a:ext cx="173736" cy="0"/>
          </a:xfrm>
          <a:prstGeom prst="straightConnector1">
            <a:avLst/>
          </a:prstGeom>
          <a:noFill/>
          <a:ln cap="flat" cmpd="sng" w="20300">
            <a:solidFill>
              <a:srgbClr val="2E7D32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9" name="Google Shape;259;p30"/>
          <p:cNvSpPr/>
          <p:nvPr/>
        </p:nvSpPr>
        <p:spPr>
          <a:xfrm>
            <a:off x="2670048" y="1243584"/>
            <a:ext cx="1783080" cy="148132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2670048" y="1243584"/>
            <a:ext cx="1783080" cy="274320"/>
          </a:xfrm>
          <a:prstGeom prst="roundRect">
            <a:avLst>
              <a:gd fmla="val 15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Annotate, low → high</a:t>
            </a:r>
            <a:endParaRPr/>
          </a:p>
        </p:txBody>
      </p:sp>
      <p:sp>
        <p:nvSpPr>
          <p:cNvPr id="261" name="Google Shape;261;p30"/>
          <p:cNvSpPr txBox="1"/>
          <p:nvPr/>
        </p:nvSpPr>
        <p:spPr>
          <a:xfrm>
            <a:off x="2761488" y="1627632"/>
            <a:ext cx="16002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each iteration typed as an action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edges typed between actions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iterations grouped into activities</a:t>
            </a:r>
            <a:endParaRPr b="0" i="0" sz="85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85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lang="en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forms taxonomy of actions</a:t>
            </a:r>
            <a:endParaRPr sz="8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30"/>
          <p:cNvCxnSpPr/>
          <p:nvPr/>
        </p:nvCxnSpPr>
        <p:spPr>
          <a:xfrm>
            <a:off x="4471416" y="1984248"/>
            <a:ext cx="173736" cy="0"/>
          </a:xfrm>
          <a:prstGeom prst="straightConnector1">
            <a:avLst/>
          </a:prstGeom>
          <a:noFill/>
          <a:ln cap="flat" cmpd="sng" w="20300">
            <a:solidFill>
              <a:srgbClr val="2E7D32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3" name="Google Shape;263;p30"/>
          <p:cNvSpPr/>
          <p:nvPr/>
        </p:nvSpPr>
        <p:spPr>
          <a:xfrm>
            <a:off x="6684153" y="1243559"/>
            <a:ext cx="1783200" cy="1481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6684153" y="1243559"/>
            <a:ext cx="1783200" cy="274200"/>
          </a:xfrm>
          <a:prstGeom prst="roundRect">
            <a:avLst>
              <a:gd fmla="val 15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A Visualization</a:t>
            </a:r>
            <a:endParaRPr/>
          </a:p>
        </p:txBody>
      </p:sp>
      <p:sp>
        <p:nvSpPr>
          <p:cNvPr id="265" name="Google Shape;265;p30"/>
          <p:cNvSpPr txBox="1"/>
          <p:nvPr/>
        </p:nvSpPr>
        <p:spPr>
          <a:xfrm>
            <a:off x="6775593" y="1627607"/>
            <a:ext cx="1600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1" i="0" lang="en" sz="85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Visualize the multi-granular trajectories</a:t>
            </a:r>
            <a:endParaRPr/>
          </a:p>
        </p:txBody>
      </p:sp>
      <p:cxnSp>
        <p:nvCxnSpPr>
          <p:cNvPr id="266" name="Google Shape;266;p30"/>
          <p:cNvCxnSpPr/>
          <p:nvPr/>
        </p:nvCxnSpPr>
        <p:spPr>
          <a:xfrm>
            <a:off x="6483096" y="1984248"/>
            <a:ext cx="173736" cy="0"/>
          </a:xfrm>
          <a:prstGeom prst="straightConnector1">
            <a:avLst/>
          </a:prstGeom>
          <a:noFill/>
          <a:ln cap="flat" cmpd="sng" w="20300">
            <a:solidFill>
              <a:srgbClr val="2E7D32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7" name="Google Shape;267;p30"/>
          <p:cNvSpPr/>
          <p:nvPr/>
        </p:nvSpPr>
        <p:spPr>
          <a:xfrm>
            <a:off x="4672583" y="1225309"/>
            <a:ext cx="1783200" cy="1481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0"/>
          <p:cNvSpPr/>
          <p:nvPr/>
        </p:nvSpPr>
        <p:spPr>
          <a:xfrm>
            <a:off x="4672583" y="1225309"/>
            <a:ext cx="1783200" cy="274200"/>
          </a:xfrm>
          <a:prstGeom prst="roundRect">
            <a:avLst>
              <a:gd fmla="val 15000" name="adj"/>
            </a:avLst>
          </a:prstGeom>
          <a:solidFill>
            <a:srgbClr val="B45309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Manual Checks</a:t>
            </a:r>
            <a:endParaRPr/>
          </a:p>
        </p:txBody>
      </p:sp>
      <p:sp>
        <p:nvSpPr>
          <p:cNvPr id="269" name="Google Shape;269;p30"/>
          <p:cNvSpPr txBox="1"/>
          <p:nvPr/>
        </p:nvSpPr>
        <p:spPr>
          <a:xfrm>
            <a:off x="4764023" y="1609357"/>
            <a:ext cx="16002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subset annotated manually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machine scored against it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agreement at every level</a:t>
            </a:r>
            <a:endParaRPr/>
          </a:p>
        </p:txBody>
      </p:sp>
      <p:sp>
        <p:nvSpPr>
          <p:cNvPr id="270" name="Google Shape;270;p30"/>
          <p:cNvSpPr/>
          <p:nvPr/>
        </p:nvSpPr>
        <p:spPr>
          <a:xfrm>
            <a:off x="658368" y="2907792"/>
            <a:ext cx="7827264" cy="694944"/>
          </a:xfrm>
          <a:prstGeom prst="roundRect">
            <a:avLst>
              <a:gd fmla="val 10000" name="adj"/>
            </a:avLst>
          </a:prstGeom>
          <a:solidFill>
            <a:srgbClr val="E8F1E6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0"/>
          <p:cNvSpPr txBox="1"/>
          <p:nvPr/>
        </p:nvSpPr>
        <p:spPr>
          <a:xfrm>
            <a:off x="841248" y="2999232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4452F"/>
                </a:solidFill>
                <a:latin typeface="Arial"/>
                <a:ea typeface="Arial"/>
                <a:cs typeface="Arial"/>
                <a:sym typeface="Arial"/>
              </a:rPr>
              <a:t>An automated analysis tool</a:t>
            </a:r>
            <a:endParaRPr/>
          </a:p>
        </p:txBody>
      </p:sp>
      <p:sp>
        <p:nvSpPr>
          <p:cNvPr id="272" name="Google Shape;272;p30"/>
          <p:cNvSpPr txBox="1"/>
          <p:nvPr/>
        </p:nvSpPr>
        <p:spPr>
          <a:xfrm>
            <a:off x="841248" y="3255264"/>
            <a:ext cx="7498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trajectory graphs at any granularity  ·  recurring behavior within one run and across runs  ·  single- and multi-trace views</a:t>
            </a:r>
            <a:endParaRPr/>
          </a:p>
        </p:txBody>
      </p:sp>
      <p:sp>
        <p:nvSpPr>
          <p:cNvPr id="273" name="Google Shape;273;p30"/>
          <p:cNvSpPr/>
          <p:nvPr/>
        </p:nvSpPr>
        <p:spPr>
          <a:xfrm>
            <a:off x="658368" y="3712463"/>
            <a:ext cx="7827264" cy="621792"/>
          </a:xfrm>
          <a:prstGeom prst="roundRect">
            <a:avLst>
              <a:gd fmla="val 12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128000" spcFirstLastPara="1" rIns="128000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new agent runs and no model training: the traces are already collected, and the annotator is a prompting pipeline whose output is measured against human annotation.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/>
          <p:nvPr/>
        </p:nvSpPr>
        <p:spPr>
          <a:xfrm>
            <a:off x="384048" y="1024128"/>
            <a:ext cx="8375904" cy="3474720"/>
          </a:xfrm>
          <a:prstGeom prst="rect">
            <a:avLst/>
          </a:prstGeom>
          <a:solidFill>
            <a:srgbClr val="F4F8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384048" y="982980"/>
            <a:ext cx="8375904" cy="41148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1"/>
          <p:cNvSpPr/>
          <p:nvPr/>
        </p:nvSpPr>
        <p:spPr>
          <a:xfrm>
            <a:off x="384048" y="4498848"/>
            <a:ext cx="8375904" cy="2011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1"/>
          <p:cNvSpPr txBox="1"/>
          <p:nvPr/>
        </p:nvSpPr>
        <p:spPr>
          <a:xfrm>
            <a:off x="475488" y="301752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63626"/>
                </a:solidFill>
                <a:latin typeface="Arial"/>
                <a:ea typeface="Arial"/>
                <a:cs typeface="Arial"/>
                <a:sym typeface="Arial"/>
              </a:rPr>
              <a:t>Under the hood, this is a stack of NLP tasks</a:t>
            </a:r>
            <a:endParaRPr/>
          </a:p>
        </p:txBody>
      </p:sp>
      <p:sp>
        <p:nvSpPr>
          <p:cNvPr id="282" name="Google Shape;282;p31"/>
          <p:cNvSpPr txBox="1"/>
          <p:nvPr/>
        </p:nvSpPr>
        <p:spPr>
          <a:xfrm>
            <a:off x="498348" y="7132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Each annotation decision maps onto a standard formulation — which also fixes how it gets scored.</a:t>
            </a:r>
            <a:endParaRPr/>
          </a:p>
        </p:txBody>
      </p:sp>
      <p:sp>
        <p:nvSpPr>
          <p:cNvPr id="283" name="Google Shape;283;p31"/>
          <p:cNvSpPr txBox="1"/>
          <p:nvPr/>
        </p:nvSpPr>
        <p:spPr>
          <a:xfrm>
            <a:off x="8275320" y="471830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84" name="Google Shape;284;p31"/>
          <p:cNvSpPr/>
          <p:nvPr/>
        </p:nvSpPr>
        <p:spPr>
          <a:xfrm>
            <a:off x="566928" y="1188720"/>
            <a:ext cx="2240280" cy="274320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we annotate</a:t>
            </a:r>
            <a:endParaRPr/>
          </a:p>
        </p:txBody>
      </p:sp>
      <p:sp>
        <p:nvSpPr>
          <p:cNvPr id="285" name="Google Shape;285;p31"/>
          <p:cNvSpPr/>
          <p:nvPr/>
        </p:nvSpPr>
        <p:spPr>
          <a:xfrm>
            <a:off x="2852928" y="1188720"/>
            <a:ext cx="3218688" cy="274320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NLP formulation</a:t>
            </a:r>
            <a:endParaRPr/>
          </a:p>
        </p:txBody>
      </p:sp>
      <p:sp>
        <p:nvSpPr>
          <p:cNvPr id="286" name="Google Shape;286;p31"/>
          <p:cNvSpPr/>
          <p:nvPr/>
        </p:nvSpPr>
        <p:spPr>
          <a:xfrm>
            <a:off x="6126480" y="1188720"/>
            <a:ext cx="2395728" cy="274320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it is scored</a:t>
            </a:r>
            <a:endParaRPr/>
          </a:p>
        </p:txBody>
      </p:sp>
      <p:sp>
        <p:nvSpPr>
          <p:cNvPr id="287" name="Google Shape;287;p31"/>
          <p:cNvSpPr/>
          <p:nvPr/>
        </p:nvSpPr>
        <p:spPr>
          <a:xfrm>
            <a:off x="566928" y="1499616"/>
            <a:ext cx="7955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1"/>
          <p:cNvSpPr txBox="1"/>
          <p:nvPr/>
        </p:nvSpPr>
        <p:spPr>
          <a:xfrm>
            <a:off x="566928" y="1536192"/>
            <a:ext cx="2240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The action in one iteration</a:t>
            </a:r>
            <a:endParaRPr/>
          </a:p>
        </p:txBody>
      </p:sp>
      <p:sp>
        <p:nvSpPr>
          <p:cNvPr id="289" name="Google Shape;289;p31"/>
          <p:cNvSpPr txBox="1"/>
          <p:nvPr/>
        </p:nvSpPr>
        <p:spPr>
          <a:xfrm>
            <a:off x="2852928" y="1536192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Short-text classification over the action vocabulary, with the thought as context</a:t>
            </a:r>
            <a:endParaRPr/>
          </a:p>
        </p:txBody>
      </p:sp>
      <p:sp>
        <p:nvSpPr>
          <p:cNvPr id="290" name="Google Shape;290;p31"/>
          <p:cNvSpPr txBox="1"/>
          <p:nvPr/>
        </p:nvSpPr>
        <p:spPr>
          <a:xfrm>
            <a:off x="6126480" y="1536192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Accuracy · macro-F1 · Cohen's κ</a:t>
            </a:r>
            <a:endParaRPr/>
          </a:p>
        </p:txBody>
      </p:sp>
      <p:sp>
        <p:nvSpPr>
          <p:cNvPr id="291" name="Google Shape;291;p31"/>
          <p:cNvSpPr/>
          <p:nvPr/>
        </p:nvSpPr>
        <p:spPr>
          <a:xfrm>
            <a:off x="566928" y="1956815"/>
            <a:ext cx="7955280" cy="457200"/>
          </a:xfrm>
          <a:prstGeom prst="rect">
            <a:avLst/>
          </a:prstGeom>
          <a:solidFill>
            <a:srgbClr val="F7F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566928" y="1993391"/>
            <a:ext cx="2240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The edge between two actions</a:t>
            </a:r>
            <a:endParaRPr/>
          </a:p>
        </p:txBody>
      </p:sp>
      <p:sp>
        <p:nvSpPr>
          <p:cNvPr id="293" name="Google Shape;293;p31"/>
          <p:cNvSpPr txBox="1"/>
          <p:nvPr/>
        </p:nvSpPr>
        <p:spPr>
          <a:xfrm>
            <a:off x="2852928" y="1993391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Pairwise relation classification, constrained to the labels valid for that pair</a:t>
            </a:r>
            <a:endParaRPr/>
          </a:p>
        </p:txBody>
      </p:sp>
      <p:sp>
        <p:nvSpPr>
          <p:cNvPr id="294" name="Google Shape;294;p31"/>
          <p:cNvSpPr txBox="1"/>
          <p:nvPr/>
        </p:nvSpPr>
        <p:spPr>
          <a:xfrm>
            <a:off x="6126480" y="1993391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Macro-F1 · κ against the human ceiling</a:t>
            </a:r>
            <a:endParaRPr/>
          </a:p>
        </p:txBody>
      </p:sp>
      <p:sp>
        <p:nvSpPr>
          <p:cNvPr id="295" name="Google Shape;295;p31"/>
          <p:cNvSpPr/>
          <p:nvPr/>
        </p:nvSpPr>
        <p:spPr>
          <a:xfrm>
            <a:off x="566928" y="2414015"/>
            <a:ext cx="7955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566928" y="2450591"/>
            <a:ext cx="2240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Grouping steps into activities</a:t>
            </a:r>
            <a:endParaRPr/>
          </a:p>
        </p:txBody>
      </p:sp>
      <p:sp>
        <p:nvSpPr>
          <p:cNvPr id="297" name="Google Shape;297;p31"/>
          <p:cNvSpPr txBox="1"/>
          <p:nvPr/>
        </p:nvSpPr>
        <p:spPr>
          <a:xfrm>
            <a:off x="2852928" y="2450591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Linear text segmentation + sequence labeling over the iteration stream</a:t>
            </a:r>
            <a:endParaRPr/>
          </a:p>
        </p:txBody>
      </p:sp>
      <p:sp>
        <p:nvSpPr>
          <p:cNvPr id="298" name="Google Shape;298;p31"/>
          <p:cNvSpPr txBox="1"/>
          <p:nvPr/>
        </p:nvSpPr>
        <p:spPr>
          <a:xfrm>
            <a:off x="6126480" y="2450591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Windowed boundary F1 · Pk / WindowDiff</a:t>
            </a:r>
            <a:endParaRPr/>
          </a:p>
        </p:txBody>
      </p:sp>
      <p:sp>
        <p:nvSpPr>
          <p:cNvPr id="299" name="Google Shape;299;p31"/>
          <p:cNvSpPr/>
          <p:nvPr/>
        </p:nvSpPr>
        <p:spPr>
          <a:xfrm>
            <a:off x="566928" y="2871215"/>
            <a:ext cx="7955280" cy="457200"/>
          </a:xfrm>
          <a:prstGeom prst="rect">
            <a:avLst/>
          </a:prstGeom>
          <a:solidFill>
            <a:srgbClr val="F7F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1"/>
          <p:cNvSpPr txBox="1"/>
          <p:nvPr/>
        </p:nvSpPr>
        <p:spPr>
          <a:xfrm>
            <a:off x="566928" y="2907791"/>
            <a:ext cx="2240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Naming a high-level action</a:t>
            </a:r>
            <a:endParaRPr/>
          </a:p>
        </p:txBody>
      </p:sp>
      <p:sp>
        <p:nvSpPr>
          <p:cNvPr id="301" name="Google Shape;301;p31"/>
          <p:cNvSpPr txBox="1"/>
          <p:nvPr/>
        </p:nvSpPr>
        <p:spPr>
          <a:xfrm>
            <a:off x="2852928" y="2907791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Span labeling into a taxonomy built by open coding over the traces</a:t>
            </a:r>
            <a:endParaRPr/>
          </a:p>
        </p:txBody>
      </p:sp>
      <p:sp>
        <p:nvSpPr>
          <p:cNvPr id="302" name="Google Shape;302;p31"/>
          <p:cNvSpPr txBox="1"/>
          <p:nvPr/>
        </p:nvSpPr>
        <p:spPr>
          <a:xfrm>
            <a:off x="6126480" y="2907791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κ on the manually annotated subset</a:t>
            </a:r>
            <a:endParaRPr/>
          </a:p>
        </p:txBody>
      </p:sp>
      <p:sp>
        <p:nvSpPr>
          <p:cNvPr id="303" name="Google Shape;303;p31"/>
          <p:cNvSpPr/>
          <p:nvPr/>
        </p:nvSpPr>
        <p:spPr>
          <a:xfrm>
            <a:off x="566928" y="3328415"/>
            <a:ext cx="7955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1"/>
          <p:cNvSpPr txBox="1"/>
          <p:nvPr/>
        </p:nvSpPr>
        <p:spPr>
          <a:xfrm>
            <a:off x="566928" y="3364991"/>
            <a:ext cx="2240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Recurring behavior</a:t>
            </a:r>
            <a:endParaRPr/>
          </a:p>
        </p:txBody>
      </p:sp>
      <p:sp>
        <p:nvSpPr>
          <p:cNvPr id="305" name="Google Shape;305;p31"/>
          <p:cNvSpPr txBox="1"/>
          <p:nvPr/>
        </p:nvSpPr>
        <p:spPr>
          <a:xfrm>
            <a:off x="2852928" y="3364991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n-gram and motif mining over label sequences, within and across traces</a:t>
            </a:r>
            <a:endParaRPr/>
          </a:p>
        </p:txBody>
      </p:sp>
      <p:sp>
        <p:nvSpPr>
          <p:cNvPr id="306" name="Google Shape;306;p31"/>
          <p:cNvSpPr txBox="1"/>
          <p:nvPr/>
        </p:nvSpPr>
        <p:spPr>
          <a:xfrm>
            <a:off x="6126480" y="3364991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support threshold · χ² / Fisher · effect size</a:t>
            </a:r>
            <a:endParaRPr/>
          </a:p>
        </p:txBody>
      </p:sp>
      <p:sp>
        <p:nvSpPr>
          <p:cNvPr id="307" name="Google Shape;307;p31"/>
          <p:cNvSpPr/>
          <p:nvPr/>
        </p:nvSpPr>
        <p:spPr>
          <a:xfrm>
            <a:off x="566928" y="3913632"/>
            <a:ext cx="7955280" cy="457200"/>
          </a:xfrm>
          <a:prstGeom prst="roundRect">
            <a:avLst>
              <a:gd fmla="val 12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128000" spcFirstLastPara="1" rIns="128000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Annotators: LLMs from two providers · temperature 0 · schema-constrained output · few-shot exemplars from the manual subset · no fine-tuning.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/>
          <p:nvPr/>
        </p:nvSpPr>
        <p:spPr>
          <a:xfrm>
            <a:off x="384048" y="1024128"/>
            <a:ext cx="8375904" cy="3474720"/>
          </a:xfrm>
          <a:prstGeom prst="rect">
            <a:avLst/>
          </a:prstGeom>
          <a:solidFill>
            <a:srgbClr val="F4F8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2"/>
          <p:cNvSpPr/>
          <p:nvPr/>
        </p:nvSpPr>
        <p:spPr>
          <a:xfrm>
            <a:off x="384048" y="982980"/>
            <a:ext cx="8375904" cy="41148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2"/>
          <p:cNvSpPr/>
          <p:nvPr/>
        </p:nvSpPr>
        <p:spPr>
          <a:xfrm>
            <a:off x="384048" y="4498848"/>
            <a:ext cx="8375904" cy="2011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2"/>
          <p:cNvSpPr txBox="1"/>
          <p:nvPr/>
        </p:nvSpPr>
        <p:spPr>
          <a:xfrm>
            <a:off x="475488" y="301752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63626"/>
                </a:solidFill>
              </a:rPr>
              <a:t>Approach (Continued)</a:t>
            </a:r>
            <a:endParaRPr/>
          </a:p>
        </p:txBody>
      </p:sp>
      <p:sp>
        <p:nvSpPr>
          <p:cNvPr id="316" name="Google Shape;316;p32"/>
          <p:cNvSpPr txBox="1"/>
          <p:nvPr/>
        </p:nvSpPr>
        <p:spPr>
          <a:xfrm>
            <a:off x="8275320" y="471830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7" name="Google Shape;317;p32"/>
          <p:cNvSpPr/>
          <p:nvPr/>
        </p:nvSpPr>
        <p:spPr>
          <a:xfrm>
            <a:off x="658368" y="1225296"/>
            <a:ext cx="3803904" cy="120700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658368" y="1225296"/>
            <a:ext cx="3803904" cy="274320"/>
          </a:xfrm>
          <a:prstGeom prst="roundRect">
            <a:avLst>
              <a:gd fmla="val 14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the trajectory</a:t>
            </a:r>
            <a:endParaRPr/>
          </a:p>
        </p:txBody>
      </p:sp>
      <p:sp>
        <p:nvSpPr>
          <p:cNvPr id="319" name="Google Shape;319;p32"/>
          <p:cNvSpPr txBox="1"/>
          <p:nvPr/>
        </p:nvSpPr>
        <p:spPr>
          <a:xfrm>
            <a:off x="768096" y="1627632"/>
            <a:ext cx="35844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identify low-, mid- and high-level actions in a trace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type the edge between two consecutive actions</a:t>
            </a:r>
            <a:endParaRPr/>
          </a:p>
        </p:txBody>
      </p:sp>
      <p:sp>
        <p:nvSpPr>
          <p:cNvPr id="320" name="Google Shape;320;p32"/>
          <p:cNvSpPr/>
          <p:nvPr/>
        </p:nvSpPr>
        <p:spPr>
          <a:xfrm>
            <a:off x="4681728" y="1225296"/>
            <a:ext cx="3803904" cy="120700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4681728" y="1225296"/>
            <a:ext cx="3803904" cy="274320"/>
          </a:xfrm>
          <a:prstGeom prst="roundRect">
            <a:avLst>
              <a:gd fmla="val 14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Single-trace analysis</a:t>
            </a:r>
            <a:endParaRPr/>
          </a:p>
        </p:txBody>
      </p:sp>
      <p:sp>
        <p:nvSpPr>
          <p:cNvPr id="322" name="Google Shape;322;p32"/>
          <p:cNvSpPr txBox="1"/>
          <p:nvPr/>
        </p:nvSpPr>
        <p:spPr>
          <a:xfrm>
            <a:off x="4791456" y="1627632"/>
            <a:ext cx="35844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find subsequences of actions inside one run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count, rank, threshold — the recurring ones are the behavior</a:t>
            </a: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658368" y="2560320"/>
            <a:ext cx="3803904" cy="120700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658368" y="2560320"/>
            <a:ext cx="3803904" cy="274320"/>
          </a:xfrm>
          <a:prstGeom prst="roundRect">
            <a:avLst>
              <a:gd fmla="val 14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Multi-trace analysis</a:t>
            </a:r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768096" y="2962656"/>
            <a:ext cx="358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find subsequences that recur across runs and across agents</a:t>
            </a:r>
            <a:endParaRPr/>
          </a:p>
        </p:txBody>
      </p:sp>
      <p:sp>
        <p:nvSpPr>
          <p:cNvPr id="326" name="Google Shape;326;p32"/>
          <p:cNvSpPr/>
          <p:nvPr/>
        </p:nvSpPr>
        <p:spPr>
          <a:xfrm>
            <a:off x="4681728" y="2560320"/>
            <a:ext cx="3803904" cy="120700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4681728" y="2560320"/>
            <a:ext cx="3803904" cy="274320"/>
          </a:xfrm>
          <a:prstGeom prst="roundRect">
            <a:avLst>
              <a:gd fmla="val 14000" name="adj"/>
            </a:avLst>
          </a:prstGeom>
          <a:solidFill>
            <a:srgbClr val="4E7D4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endParaRPr/>
          </a:p>
        </p:txBody>
      </p:sp>
      <p:sp>
        <p:nvSpPr>
          <p:cNvPr id="328" name="Google Shape;328;p32"/>
          <p:cNvSpPr txBox="1"/>
          <p:nvPr/>
        </p:nvSpPr>
        <p:spPr>
          <a:xfrm>
            <a:off x="4791456" y="2962656"/>
            <a:ext cx="358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E7D4E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one trajectory at the granularity</a:t>
            </a: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level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/>
          <p:nvPr/>
        </p:nvSpPr>
        <p:spPr>
          <a:xfrm>
            <a:off x="384048" y="1024128"/>
            <a:ext cx="8375904" cy="3474720"/>
          </a:xfrm>
          <a:prstGeom prst="rect">
            <a:avLst/>
          </a:prstGeom>
          <a:solidFill>
            <a:srgbClr val="F4F8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384048" y="982980"/>
            <a:ext cx="8375904" cy="41148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384048" y="4498848"/>
            <a:ext cx="8375904" cy="2011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475488" y="301752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63626"/>
                </a:solidFill>
              </a:rPr>
              <a:t>Evaluation Steps</a:t>
            </a:r>
            <a:endParaRPr/>
          </a:p>
        </p:txBody>
      </p:sp>
      <p:sp>
        <p:nvSpPr>
          <p:cNvPr id="337" name="Google Shape;337;p33"/>
          <p:cNvSpPr txBox="1"/>
          <p:nvPr/>
        </p:nvSpPr>
        <p:spPr>
          <a:xfrm>
            <a:off x="498348" y="7132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The machine annotates everything; people annotate a subset; the two are compared level by level.</a:t>
            </a:r>
            <a:endParaRPr/>
          </a:p>
        </p:txBody>
      </p:sp>
      <p:sp>
        <p:nvSpPr>
          <p:cNvPr id="338" name="Google Shape;338;p33"/>
          <p:cNvSpPr txBox="1"/>
          <p:nvPr/>
        </p:nvSpPr>
        <p:spPr>
          <a:xfrm>
            <a:off x="8275320" y="471830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39" name="Google Shape;339;p33"/>
          <p:cNvSpPr/>
          <p:nvPr/>
        </p:nvSpPr>
        <p:spPr>
          <a:xfrm>
            <a:off x="1752718" y="1216146"/>
            <a:ext cx="2414100" cy="173730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1752718" y="1216146"/>
            <a:ext cx="2414100" cy="292500"/>
          </a:xfrm>
          <a:prstGeom prst="roundRect">
            <a:avLst>
              <a:gd fmla="val 14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manual reference</a:t>
            </a:r>
            <a:endParaRPr/>
          </a:p>
        </p:txBody>
      </p:sp>
      <p:sp>
        <p:nvSpPr>
          <p:cNvPr id="341" name="Google Shape;341;p33"/>
          <p:cNvSpPr txBox="1"/>
          <p:nvPr/>
        </p:nvSpPr>
        <p:spPr>
          <a:xfrm>
            <a:off x="1862446" y="1636770"/>
            <a:ext cx="2194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Two annotators independently annotate a stratified subset of the 50 trajectories.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Disagreements are adjudicated into one reference.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Their agreement with each other is the ceiling.</a:t>
            </a:r>
            <a:endParaRPr/>
          </a:p>
        </p:txBody>
      </p:sp>
      <p:sp>
        <p:nvSpPr>
          <p:cNvPr id="342" name="Google Shape;342;p33"/>
          <p:cNvSpPr/>
          <p:nvPr/>
        </p:nvSpPr>
        <p:spPr>
          <a:xfrm>
            <a:off x="5006542" y="1216146"/>
            <a:ext cx="2414100" cy="173730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5006542" y="1216146"/>
            <a:ext cx="2414100" cy="292500"/>
          </a:xfrm>
          <a:prstGeom prst="roundRect">
            <a:avLst>
              <a:gd fmla="val 14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FFFFFF"/>
                </a:solidFill>
              </a:rPr>
              <a:t>Automated</a:t>
            </a: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vs. </a:t>
            </a:r>
            <a:r>
              <a:rPr b="1" lang="en" sz="1050">
                <a:solidFill>
                  <a:srgbClr val="FFFFFF"/>
                </a:solidFill>
              </a:rPr>
              <a:t>Manual</a:t>
            </a:r>
            <a:endParaRPr/>
          </a:p>
        </p:txBody>
      </p:sp>
      <p:sp>
        <p:nvSpPr>
          <p:cNvPr id="344" name="Google Shape;344;p33"/>
          <p:cNvSpPr txBox="1"/>
          <p:nvPr/>
        </p:nvSpPr>
        <p:spPr>
          <a:xfrm>
            <a:off x="5116270" y="1636770"/>
            <a:ext cx="2194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Cohen's κ for the labels at each level.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Windowed boundary F1 for where a high-level action starts and ends.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Confusion matrices to show what the model confuses.</a:t>
            </a:r>
            <a:endParaRPr/>
          </a:p>
        </p:txBody>
      </p:sp>
      <p:sp>
        <p:nvSpPr>
          <p:cNvPr id="345" name="Google Shape;345;p33"/>
          <p:cNvSpPr/>
          <p:nvPr/>
        </p:nvSpPr>
        <p:spPr>
          <a:xfrm>
            <a:off x="658368" y="3145536"/>
            <a:ext cx="7827264" cy="566928"/>
          </a:xfrm>
          <a:prstGeom prst="roundRect">
            <a:avLst>
              <a:gd fmla="val 12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128000" spcFirstLastPara="1" rIns="128000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pipeline only scales to the whole corpus once it matches people at the level it is annotating.</a:t>
            </a:r>
            <a:endParaRPr/>
          </a:p>
        </p:txBody>
      </p:sp>
      <p:sp>
        <p:nvSpPr>
          <p:cNvPr id="346" name="Google Shape;346;p33"/>
          <p:cNvSpPr/>
          <p:nvPr/>
        </p:nvSpPr>
        <p:spPr>
          <a:xfrm>
            <a:off x="979083" y="3904559"/>
            <a:ext cx="1783200" cy="274200"/>
          </a:xfrm>
          <a:prstGeom prst="roundRect">
            <a:avLst>
              <a:gd fmla="val 15000" name="adj"/>
            </a:avLst>
          </a:prstGeom>
          <a:solidFill>
            <a:srgbClr val="B45309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RQ 1: Effectiveness</a:t>
            </a:r>
            <a:endParaRPr/>
          </a:p>
        </p:txBody>
      </p:sp>
      <p:sp>
        <p:nvSpPr>
          <p:cNvPr id="347" name="Google Shape;347;p33"/>
          <p:cNvSpPr/>
          <p:nvPr/>
        </p:nvSpPr>
        <p:spPr>
          <a:xfrm>
            <a:off x="3077883" y="3904559"/>
            <a:ext cx="1783200" cy="274200"/>
          </a:xfrm>
          <a:prstGeom prst="roundRect">
            <a:avLst>
              <a:gd fmla="val 15000" name="adj"/>
            </a:avLst>
          </a:prstGeom>
          <a:solidFill>
            <a:srgbClr val="B45309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RQ 2: Accuracy</a:t>
            </a:r>
            <a:endParaRPr/>
          </a:p>
        </p:txBody>
      </p:sp>
      <p:sp>
        <p:nvSpPr>
          <p:cNvPr id="348" name="Google Shape;348;p33"/>
          <p:cNvSpPr/>
          <p:nvPr/>
        </p:nvSpPr>
        <p:spPr>
          <a:xfrm>
            <a:off x="5176683" y="3904559"/>
            <a:ext cx="1783200" cy="274200"/>
          </a:xfrm>
          <a:prstGeom prst="roundRect">
            <a:avLst>
              <a:gd fmla="val 15000" name="adj"/>
            </a:avLst>
          </a:prstGeom>
          <a:solidFill>
            <a:srgbClr val="B45309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RQ 3: Patterns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"/>
          <p:cNvSpPr/>
          <p:nvPr/>
        </p:nvSpPr>
        <p:spPr>
          <a:xfrm>
            <a:off x="384048" y="1024128"/>
            <a:ext cx="8375904" cy="3474720"/>
          </a:xfrm>
          <a:prstGeom prst="rect">
            <a:avLst/>
          </a:prstGeom>
          <a:solidFill>
            <a:srgbClr val="F4F8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384048" y="982980"/>
            <a:ext cx="8375904" cy="41148"/>
          </a:xfrm>
          <a:prstGeom prst="rect">
            <a:avLst/>
          </a:prstGeom>
          <a:solidFill>
            <a:srgbClr val="144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384048" y="4498848"/>
            <a:ext cx="8375904" cy="20116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4"/>
          <p:cNvSpPr txBox="1"/>
          <p:nvPr/>
        </p:nvSpPr>
        <p:spPr>
          <a:xfrm>
            <a:off x="475488" y="301752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63626"/>
                </a:solidFill>
              </a:rPr>
              <a:t>Feasibility</a:t>
            </a:r>
            <a:endParaRPr/>
          </a:p>
        </p:txBody>
      </p:sp>
      <p:sp>
        <p:nvSpPr>
          <p:cNvPr id="357" name="Google Shape;357;p34"/>
          <p:cNvSpPr txBox="1"/>
          <p:nvPr/>
        </p:nvSpPr>
        <p:spPr>
          <a:xfrm>
            <a:off x="8275320" y="471830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7B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58" name="Google Shape;358;p34"/>
          <p:cNvSpPr/>
          <p:nvPr/>
        </p:nvSpPr>
        <p:spPr>
          <a:xfrm>
            <a:off x="658368" y="1225296"/>
            <a:ext cx="2414016" cy="1572768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658368" y="1225296"/>
            <a:ext cx="2414016" cy="292608"/>
          </a:xfrm>
          <a:prstGeom prst="roundRect">
            <a:avLst>
              <a:gd fmla="val 13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annotated corpus</a:t>
            </a:r>
            <a:endParaRPr/>
          </a:p>
        </p:txBody>
      </p:sp>
      <p:sp>
        <p:nvSpPr>
          <p:cNvPr id="360" name="Google Shape;360;p34"/>
          <p:cNvSpPr txBox="1"/>
          <p:nvPr/>
        </p:nvSpPr>
        <p:spPr>
          <a:xfrm>
            <a:off x="768096" y="1627632"/>
            <a:ext cx="21945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50 trajectories from Codex, Claude Code and Gemini in one schema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annotated at low, mid and high granularity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with the manually annotated reference subset</a:t>
            </a:r>
            <a:endParaRPr/>
          </a:p>
        </p:txBody>
      </p:sp>
      <p:sp>
        <p:nvSpPr>
          <p:cNvPr id="361" name="Google Shape;361;p34"/>
          <p:cNvSpPr/>
          <p:nvPr/>
        </p:nvSpPr>
        <p:spPr>
          <a:xfrm>
            <a:off x="3364991" y="1225296"/>
            <a:ext cx="2414016" cy="1572768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"/>
          <p:cNvSpPr/>
          <p:nvPr/>
        </p:nvSpPr>
        <p:spPr>
          <a:xfrm>
            <a:off x="3364991" y="1225296"/>
            <a:ext cx="2414016" cy="292608"/>
          </a:xfrm>
          <a:prstGeom prst="roundRect">
            <a:avLst>
              <a:gd fmla="val 13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taxonomy + annotator</a:t>
            </a:r>
            <a:endParaRPr/>
          </a:p>
        </p:txBody>
      </p:sp>
      <p:sp>
        <p:nvSpPr>
          <p:cNvPr id="363" name="Google Shape;363;p34"/>
          <p:cNvSpPr txBox="1"/>
          <p:nvPr/>
        </p:nvSpPr>
        <p:spPr>
          <a:xfrm>
            <a:off x="3474720" y="1627632"/>
            <a:ext cx="21945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vocabulary of actions and edge types, with evidence rules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automated annotation pipeline and its prompts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agreement numbers against human annotation</a:t>
            </a:r>
            <a:endParaRPr/>
          </a:p>
        </p:txBody>
      </p:sp>
      <p:sp>
        <p:nvSpPr>
          <p:cNvPr id="364" name="Google Shape;364;p34"/>
          <p:cNvSpPr/>
          <p:nvPr/>
        </p:nvSpPr>
        <p:spPr>
          <a:xfrm>
            <a:off x="6071616" y="1225296"/>
            <a:ext cx="2414016" cy="1572768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6071616" y="1225296"/>
            <a:ext cx="2414016" cy="292608"/>
          </a:xfrm>
          <a:prstGeom prst="roundRect">
            <a:avLst>
              <a:gd fmla="val 13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visual analysis tool</a:t>
            </a:r>
            <a:endParaRPr/>
          </a:p>
        </p:txBody>
      </p:sp>
      <p:sp>
        <p:nvSpPr>
          <p:cNvPr id="366" name="Google Shape;366;p34"/>
          <p:cNvSpPr txBox="1"/>
          <p:nvPr/>
        </p:nvSpPr>
        <p:spPr>
          <a:xfrm>
            <a:off x="6181344" y="1627632"/>
            <a:ext cx="21945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trajectory graphs at any granularity, single or multi-trace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recurring-pattern mining across agents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machine-readable exports</a:t>
            </a:r>
            <a:endParaRPr/>
          </a:p>
        </p:txBody>
      </p:sp>
      <p:sp>
        <p:nvSpPr>
          <p:cNvPr id="367" name="Google Shape;367;p34"/>
          <p:cNvSpPr/>
          <p:nvPr/>
        </p:nvSpPr>
        <p:spPr>
          <a:xfrm>
            <a:off x="1901952" y="2926080"/>
            <a:ext cx="1466697" cy="292608"/>
          </a:xfrm>
          <a:prstGeom prst="roundRect">
            <a:avLst>
              <a:gd fmla="val 28000" name="adj"/>
            </a:avLst>
          </a:prstGeom>
          <a:solidFill>
            <a:srgbClr val="E8F1E6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traces already collected</a:t>
            </a:r>
            <a:endParaRPr/>
          </a:p>
        </p:txBody>
      </p:sp>
      <p:sp>
        <p:nvSpPr>
          <p:cNvPr id="368" name="Google Shape;368;p34"/>
          <p:cNvSpPr/>
          <p:nvPr/>
        </p:nvSpPr>
        <p:spPr>
          <a:xfrm>
            <a:off x="3638027" y="2926080"/>
            <a:ext cx="1518000" cy="292500"/>
          </a:xfrm>
          <a:prstGeom prst="roundRect">
            <a:avLst>
              <a:gd fmla="val 28000" name="adj"/>
            </a:avLst>
          </a:prstGeom>
          <a:solidFill>
            <a:srgbClr val="E8F1E6"/>
          </a:solidFill>
          <a:ln cap="flat" cmpd="sng" w="9525">
            <a:solidFill>
              <a:srgbClr val="C3D6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50" u="none" cap="none" strike="noStrike">
                <a:solidFill>
                  <a:srgbClr val="14452F"/>
                </a:solidFill>
                <a:latin typeface="Calibri"/>
                <a:ea typeface="Calibri"/>
                <a:cs typeface="Calibri"/>
                <a:sym typeface="Calibri"/>
              </a:rPr>
              <a:t>manual effort on a subset</a:t>
            </a:r>
            <a:endParaRPr/>
          </a:p>
        </p:txBody>
      </p:sp>
      <p:sp>
        <p:nvSpPr>
          <p:cNvPr id="369" name="Google Shape;369;p34"/>
          <p:cNvSpPr/>
          <p:nvPr/>
        </p:nvSpPr>
        <p:spPr>
          <a:xfrm>
            <a:off x="658368" y="3419856"/>
            <a:ext cx="7827264" cy="658368"/>
          </a:xfrm>
          <a:prstGeom prst="roundRect">
            <a:avLst>
              <a:gd fmla="val 12000" name="adj"/>
            </a:avLst>
          </a:prstGeom>
          <a:solidFill>
            <a:srgbClr val="14452F"/>
          </a:solidFill>
          <a:ln>
            <a:noFill/>
          </a:ln>
        </p:spPr>
        <p:txBody>
          <a:bodyPr anchorCtr="0" anchor="ctr" bIns="18275" lIns="128000" spcFirstLastPara="1" rIns="128000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outcome either way: the first multi-granularity, human-validated account of how today's coding agents actually behave — and a tool that makes any new trace readable the same way.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